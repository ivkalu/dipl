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0" r:id="rId5"/>
    <p:sldId id="279" r:id="rId6"/>
    <p:sldId id="259" r:id="rId7"/>
    <p:sldId id="266" r:id="rId8"/>
    <p:sldId id="262" r:id="rId9"/>
    <p:sldId id="263" r:id="rId10"/>
    <p:sldId id="267" r:id="rId11"/>
    <p:sldId id="265" r:id="rId12"/>
    <p:sldId id="268" r:id="rId13"/>
    <p:sldId id="275" r:id="rId14"/>
    <p:sldId id="261" r:id="rId15"/>
    <p:sldId id="274" r:id="rId16"/>
    <p:sldId id="270" r:id="rId17"/>
    <p:sldId id="271" r:id="rId18"/>
    <p:sldId id="281" r:id="rId19"/>
    <p:sldId id="277" r:id="rId20"/>
    <p:sldId id="272" r:id="rId2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75" d="100"/>
          <a:sy n="75" d="100"/>
        </p:scale>
        <p:origin x="1386" y="75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1EB0-B76A-6F62-38F9-68AA3D37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D1295-21EC-6428-CE1F-EA2DA2634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2C018-2DA6-8BEB-E049-88438CCD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2BCF7-AC33-2D94-9C8F-AF8A285F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B858B-872E-0241-03B6-92390F48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3983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568B-98BB-C387-BC75-945A7B17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CC6F-6D82-08F4-AAA0-5722D67E9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C9069-4AC3-462F-1D02-0DB741B2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35E52-1054-45E8-4FB2-0FAAFCF43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3A9F9-C59E-B7E4-A981-9BCD10C4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02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52A7-8F61-230C-252D-92E4692B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DF1DF-1D7A-167D-FCF6-198EBA926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22CA3-2F5A-3FB7-4E67-800D5EC2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00551-E771-A6E7-0D95-427CA82D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907AA-6A21-CDBF-F8AC-FA49B50E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0140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8A32-CCB7-2DD8-A4D2-C41140C8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53AB7-0992-25F7-2A23-6012515F5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F4570-A17E-5558-3A09-8E39ADC5E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F388F-5E2A-0482-B107-5FB94B40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91771-854B-5D71-9920-CF072B51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C8811-3984-FF8D-DFD8-726E77B2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35719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90B0-23EC-28A0-7D45-E8FAA0FD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7D810-AF2A-F089-2502-C174FC5C0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5E9A1-273E-3AFC-864A-11DA301D7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94C7B-2B2D-3C62-5C9F-010D4012B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8811AA-3220-F909-56EA-54BAA2063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88632-9649-393C-9A46-8704B0E5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4F9343-A362-90D8-9719-241DC45C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2632F-E639-E589-6648-D541A4D5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1867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9A71-500E-DD88-01F6-D2B39AE6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CC7F2-361A-60B2-B1AA-0A61AF0E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59845-9747-C542-0DFE-2740401F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142A-00B1-037E-97E1-A6531ACD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4767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8307B-F65F-321B-B0C9-0BC6D9E5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E7414-1068-AD83-A8A4-4FB8D852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7405A-8296-B885-8057-0F0FDBB3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6568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54B4-7F78-99C7-B81A-3B0EC905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2C70F-3E02-87A5-A07F-0B8009429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CF3AA-7D30-F351-C3AD-537B71B12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5F878-08C4-6FED-03CA-0B3BFEE9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033E5-DCCC-9982-027A-5EDBEF94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459F4-6B64-C4DC-DF8B-A9BE8286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2757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672D-3583-44BE-E44E-8F7D7557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68F7CC-EEF1-5571-8E57-C45D382E6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E8ADF-B374-D381-2E82-CC731008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5F82C-6F84-971E-82AF-867BBAEC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585C3-D1A1-39F9-4EB7-06E943909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80CC2-FAAB-41CE-6799-35CA1B80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7047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6BB5-6597-08A8-5FAA-206F66E7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EEA9-BA58-DE6F-54FE-113EAEB42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831E6-9034-0705-9E04-30268063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F034A-C43D-C636-A256-93F4E9099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C052B-6D61-15D0-E534-589CE52C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6252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DD60A-5B1D-E05C-A2A5-B62E3167B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1D050-FCE8-AFB0-5DD2-6582B15D0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1973D-90B3-FE9C-E656-8C259E66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C8FEC-9F63-017B-45F8-60EEB822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FB522-5DE7-2964-EBE8-ECA6D374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4846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536BE-2837-5B05-C65C-A177D7CC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C9C3C-3494-A9B2-4EB0-5B3B87754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DE152-BF9C-01B4-AF44-C68C51571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39EE1-AF85-494C-8BF8-37694BC2753B}" type="datetimeFigureOut">
              <a:rPr lang="hr-HR" smtClean="0"/>
              <a:t>16.9.2025.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637CC-8718-50B8-3716-D55BB68D5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52A4C-BCCE-ABEE-E2A8-5A6713A9A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B6150-B75C-4130-82EC-F2827CC98A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6493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514A-A1AA-29F3-01B7-E98FE43B61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Emulation of Guitar Effects Using Machine Learning</a:t>
            </a:r>
            <a:br>
              <a:rPr lang="hr-HR" dirty="0"/>
            </a:br>
            <a:endParaRPr lang="hr-H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1B130-C617-010C-96D0-DF53E852F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27791"/>
          </a:xfrm>
        </p:spPr>
        <p:txBody>
          <a:bodyPr>
            <a:normAutofit/>
          </a:bodyPr>
          <a:lstStyle/>
          <a:p>
            <a:r>
              <a:rPr lang="en-US" dirty="0"/>
              <a:t>Luka </a:t>
            </a:r>
            <a:r>
              <a:rPr lang="en-US" dirty="0" err="1"/>
              <a:t>Ivankovi</a:t>
            </a:r>
            <a:r>
              <a:rPr lang="hr-HR" dirty="0"/>
              <a:t>ć</a:t>
            </a:r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en-US" dirty="0"/>
              <a:t>UNIVERSITY OF ZAGREB</a:t>
            </a:r>
          </a:p>
          <a:p>
            <a:r>
              <a:rPr lang="en-US" dirty="0"/>
              <a:t> FACULTY OF ELECTRICAL ENGINEERING AND COMPUTING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39970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69A58D-1A22-BD3F-9C89-7CABE6F7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problem</a:t>
            </a:r>
            <a:endParaRPr lang="hr-H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270A9E-784A-A34C-A918-46C97540A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 audio signal chain</a:t>
            </a:r>
            <a:endParaRPr lang="hr-HR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DF9DBB-87DC-1004-45DA-3D2DCA51D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98886" cy="823912"/>
          </a:xfrm>
        </p:spPr>
        <p:txBody>
          <a:bodyPr/>
          <a:lstStyle/>
          <a:p>
            <a:r>
              <a:rPr lang="hr-HR" dirty="0"/>
              <a:t>Sound before and after the pedal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C7B0CEB-C79A-94FD-EE6D-80CF3C7532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3026472"/>
            <a:ext cx="5157787" cy="2641793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5E931A8-C845-4607-2D5F-5868DC39440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130564"/>
            <a:ext cx="5183188" cy="243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4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42C2-9405-ED9C-0BCB-F7A2FECF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are we trying to learn?</a:t>
            </a:r>
            <a:endParaRPr lang="hr-HR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CC4DAED-00B7-AE51-FF89-74A9231A89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model should learn the </a:t>
            </a:r>
            <a:r>
              <a:rPr lang="hr-HR" dirty="0"/>
              <a:t>audio transformations </a:t>
            </a:r>
            <a:r>
              <a:rPr lang="en-US" dirty="0"/>
              <a:t>introduced by the effect pedal</a:t>
            </a:r>
          </a:p>
          <a:p>
            <a:r>
              <a:rPr lang="en-US" dirty="0"/>
              <a:t>Types of transformations:</a:t>
            </a:r>
          </a:p>
          <a:p>
            <a:pPr lvl="1"/>
            <a:r>
              <a:rPr lang="en-US" dirty="0"/>
              <a:t>Short (distortion)</a:t>
            </a:r>
            <a:r>
              <a:rPr lang="hr-HR" dirty="0"/>
              <a:t>, &lt; 10ms</a:t>
            </a:r>
            <a:endParaRPr lang="en-US" dirty="0"/>
          </a:p>
          <a:p>
            <a:pPr lvl="1"/>
            <a:r>
              <a:rPr lang="en-US" dirty="0"/>
              <a:t>Long (eq</a:t>
            </a:r>
            <a:r>
              <a:rPr lang="hr-HR" dirty="0"/>
              <a:t>ualizer, flanger</a:t>
            </a:r>
            <a:r>
              <a:rPr lang="en-US" dirty="0"/>
              <a:t>)</a:t>
            </a:r>
            <a:r>
              <a:rPr lang="hr-HR" dirty="0"/>
              <a:t>, &lt; 1s</a:t>
            </a:r>
            <a:endParaRPr lang="en-US" dirty="0"/>
          </a:p>
          <a:p>
            <a:pPr lvl="1"/>
            <a:r>
              <a:rPr lang="en-US" dirty="0"/>
              <a:t>Very long (delay</a:t>
            </a:r>
            <a:r>
              <a:rPr lang="hr-HR" dirty="0"/>
              <a:t>, </a:t>
            </a:r>
            <a:r>
              <a:rPr lang="en-US" dirty="0"/>
              <a:t>reverb)</a:t>
            </a:r>
            <a:r>
              <a:rPr lang="hr-HR" dirty="0"/>
              <a:t>, &gt; 1s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64AEB69-0FE0-59E6-35B7-4829149244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43968"/>
            <a:ext cx="5181600" cy="351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9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3A8D7C-314B-0E75-61EA-1173E450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Digital audio representation</a:t>
            </a:r>
          </a:p>
        </p:txBody>
      </p:sp>
      <p:pic>
        <p:nvPicPr>
          <p:cNvPr id="2050" name="Picture 2" descr="Sampling rate - Hydrogenaudio Knowledgebase">
            <a:extLst>
              <a:ext uri="{FF2B5EF4-FFF2-40B4-BE49-F238E27FC236}">
                <a16:creationId xmlns:a16="http://schemas.microsoft.com/office/drawing/2014/main" id="{67352446-2215-93BC-DB5C-0FBF3FCCA8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26" y="2307771"/>
            <a:ext cx="10682516" cy="333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7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3A61-42B7-72FF-4764-9F15239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Lengths of effects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333204B-78D6-4F30-0374-C6589B97C2F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05038487"/>
              </p:ext>
            </p:extLst>
          </p:nvPr>
        </p:nvGraphicFramePr>
        <p:xfrm>
          <a:off x="1563913" y="2856139"/>
          <a:ext cx="92782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2752">
                  <a:extLst>
                    <a:ext uri="{9D8B030D-6E8A-4147-A177-3AD203B41FA5}">
                      <a16:colId xmlns:a16="http://schemas.microsoft.com/office/drawing/2014/main" val="3423215065"/>
                    </a:ext>
                  </a:extLst>
                </a:gridCol>
                <a:gridCol w="3092752">
                  <a:extLst>
                    <a:ext uri="{9D8B030D-6E8A-4147-A177-3AD203B41FA5}">
                      <a16:colId xmlns:a16="http://schemas.microsoft.com/office/drawing/2014/main" val="2198212662"/>
                    </a:ext>
                  </a:extLst>
                </a:gridCol>
                <a:gridCol w="3092752">
                  <a:extLst>
                    <a:ext uri="{9D8B030D-6E8A-4147-A177-3AD203B41FA5}">
                      <a16:colId xmlns:a16="http://schemas.microsoft.com/office/drawing/2014/main" val="2822413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Duration (seconds)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Duration (samples)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509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Simple Distortion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Raging Demon Distortion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0.188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8271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849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Dragonfly Plate Reverb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2.844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125413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97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Dragonfly Room Reverb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6.738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297165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308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42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83ECAF8-ED92-42C6-321E-208F313B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Dataset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CCFE5E-B584-D802-AB07-3D3ACC6484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i="1" dirty="0"/>
              <a:t>Musical Instruments Sound Dataset</a:t>
            </a:r>
            <a:r>
              <a:rPr lang="en-US" b="1" dirty="0"/>
              <a:t> </a:t>
            </a:r>
            <a:r>
              <a:rPr lang="en-US" dirty="0"/>
              <a:t>by </a:t>
            </a:r>
            <a:r>
              <a:rPr lang="en-US" i="1" dirty="0"/>
              <a:t>Soumen </a:t>
            </a:r>
            <a:r>
              <a:rPr lang="en-US" i="1" dirty="0" err="1"/>
              <a:t>dra</a:t>
            </a:r>
            <a:r>
              <a:rPr lang="en-US" i="1" dirty="0"/>
              <a:t> Prasad</a:t>
            </a:r>
            <a:r>
              <a:rPr lang="en-US" dirty="0"/>
              <a:t>, </a:t>
            </a:r>
            <a:r>
              <a:rPr lang="en-US" dirty="0" err="1"/>
              <a:t>KaggleHub</a:t>
            </a:r>
            <a:endParaRPr lang="hr-HR" dirty="0"/>
          </a:p>
          <a:p>
            <a:r>
              <a:rPr lang="hr-HR" dirty="0"/>
              <a:t>Train set: </a:t>
            </a:r>
            <a:r>
              <a:rPr lang="en-US" dirty="0"/>
              <a:t>700 recordings of guitar, drums and violin</a:t>
            </a:r>
            <a:r>
              <a:rPr lang="hr-HR" dirty="0"/>
              <a:t> each, </a:t>
            </a:r>
            <a:r>
              <a:rPr lang="en-US" dirty="0"/>
              <a:t>and 528 recordings of piano</a:t>
            </a:r>
            <a:endParaRPr lang="hr-HR" dirty="0"/>
          </a:p>
          <a:p>
            <a:r>
              <a:rPr lang="hr-HR" dirty="0"/>
              <a:t>T</a:t>
            </a:r>
            <a:r>
              <a:rPr lang="en-US" dirty="0" err="1"/>
              <a:t>est</a:t>
            </a:r>
            <a:r>
              <a:rPr lang="en-US" dirty="0"/>
              <a:t> set</a:t>
            </a:r>
            <a:r>
              <a:rPr lang="hr-HR" dirty="0"/>
              <a:t>:</a:t>
            </a:r>
            <a:r>
              <a:rPr lang="en-US" dirty="0"/>
              <a:t> 80 recordings, 20 from each class</a:t>
            </a:r>
            <a:endParaRPr lang="hr-HR" dirty="0"/>
          </a:p>
          <a:p>
            <a:r>
              <a:rPr lang="hr-HR" dirty="0"/>
              <a:t>Applied effects via Spotify’s </a:t>
            </a:r>
            <a:r>
              <a:rPr lang="hr-HR" i="1" dirty="0"/>
              <a:t>PedalBoard</a:t>
            </a:r>
            <a:r>
              <a:rPr lang="hr-HR" dirty="0"/>
              <a:t> library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9F008F78-F885-4845-F58B-BA4AAC5031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223" y="1951945"/>
            <a:ext cx="5181600" cy="3287712"/>
          </a:xfrm>
        </p:spPr>
      </p:pic>
    </p:spTree>
    <p:extLst>
      <p:ext uri="{BB962C8B-B14F-4D97-AF65-F5344CB8AC3E}">
        <p14:creationId xmlns:p14="http://schemas.microsoft.com/office/powerpoint/2010/main" val="238806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76FD-EA77-5407-6636-EF2D7142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Approaches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F221C-F3C3-A473-A2FC-037655DE5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Black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A8538-75D6-3DDA-886C-34C5B8BFA1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dirty="0"/>
              <a:t>No assumptions about </a:t>
            </a:r>
            <a:r>
              <a:rPr lang="en-US" dirty="0"/>
              <a:t>internal structure of guitar </a:t>
            </a:r>
            <a:r>
              <a:rPr lang="hr-HR" dirty="0"/>
              <a:t>pedals </a:t>
            </a:r>
          </a:p>
          <a:p>
            <a:r>
              <a:rPr lang="hr-HR" dirty="0"/>
              <a:t>Fully connected</a:t>
            </a:r>
          </a:p>
          <a:p>
            <a:r>
              <a:rPr lang="hr-HR" dirty="0"/>
              <a:t>Reccurent networks (LSTM)</a:t>
            </a:r>
          </a:p>
          <a:p>
            <a:r>
              <a:rPr lang="hr-HR" dirty="0"/>
              <a:t>WaveNet</a:t>
            </a:r>
          </a:p>
          <a:p>
            <a:r>
              <a:rPr lang="hr-HR" dirty="0"/>
              <a:t>Temporal Convolutional Network</a:t>
            </a:r>
          </a:p>
          <a:p>
            <a:r>
              <a:rPr lang="hr-HR" dirty="0"/>
              <a:t>Structured State Space Models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8916B3-4BB7-16DC-7D84-66E954F9E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2505075"/>
            <a:ext cx="5183188" cy="823912"/>
          </a:xfrm>
        </p:spPr>
        <p:txBody>
          <a:bodyPr/>
          <a:lstStyle/>
          <a:p>
            <a:r>
              <a:rPr lang="hr-HR"/>
              <a:t>Gray </a:t>
            </a:r>
            <a:r>
              <a:rPr lang="hr-HR" dirty="0"/>
              <a:t>box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8DFC33-D70D-A7DE-C4EA-90647EA5E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3328987"/>
            <a:ext cx="5183188" cy="36845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dirty="0"/>
              <a:t>Assumes some internal structure, </a:t>
            </a:r>
            <a:r>
              <a:rPr lang="en-US" dirty="0"/>
              <a:t>but still relies on optimization methods to fill out unknown</a:t>
            </a:r>
            <a:r>
              <a:rPr lang="hr-HR" dirty="0"/>
              <a:t> </a:t>
            </a:r>
            <a:r>
              <a:rPr lang="en-US" dirty="0"/>
              <a:t>parameters</a:t>
            </a:r>
            <a:endParaRPr lang="hr-HR" dirty="0"/>
          </a:p>
          <a:p>
            <a:r>
              <a:rPr lang="hr-HR" dirty="0"/>
              <a:t>Genetic algorithm</a:t>
            </a:r>
          </a:p>
          <a:p>
            <a:r>
              <a:rPr lang="hr-HR" dirty="0"/>
              <a:t>Gradient-based optimization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01F34FB-D0D6-B113-DCAE-CFB22C8555DC}"/>
              </a:ext>
            </a:extLst>
          </p:cNvPr>
          <p:cNvSpPr txBox="1">
            <a:spLocks/>
          </p:cNvSpPr>
          <p:nvPr/>
        </p:nvSpPr>
        <p:spPr>
          <a:xfrm>
            <a:off x="6169024" y="783361"/>
            <a:ext cx="5183188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White box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69C5672-15BD-FA60-19CB-4E3C015EAE93}"/>
              </a:ext>
            </a:extLst>
          </p:cNvPr>
          <p:cNvSpPr txBox="1">
            <a:spLocks/>
          </p:cNvSpPr>
          <p:nvPr/>
        </p:nvSpPr>
        <p:spPr>
          <a:xfrm>
            <a:off x="6169024" y="1690688"/>
            <a:ext cx="5183188" cy="1224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600" dirty="0"/>
              <a:t>Models every analog component inside pedal. Very time consuming.</a:t>
            </a:r>
          </a:p>
        </p:txBody>
      </p:sp>
    </p:spTree>
    <p:extLst>
      <p:ext uri="{BB962C8B-B14F-4D97-AF65-F5344CB8AC3E}">
        <p14:creationId xmlns:p14="http://schemas.microsoft.com/office/powerpoint/2010/main" val="22163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2FB5-D88B-EB7B-509D-5590CCC7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Fully connected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DE71-10EB-989A-2C17-0CCA11C57C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Works one sample at a time</a:t>
            </a:r>
          </a:p>
          <a:p>
            <a:r>
              <a:rPr lang="hr-HR" dirty="0"/>
              <a:t>Succesfully learns only the simplest distortion effect</a:t>
            </a:r>
          </a:p>
          <a:p>
            <a:r>
              <a:rPr lang="hr-HR" dirty="0"/>
              <a:t>For reverb tasks it minimizes MSE by only estimating the dry part of the signal</a:t>
            </a:r>
          </a:p>
          <a:p>
            <a:r>
              <a:rPr lang="hr-HR" b="1" dirty="0"/>
              <a:t>PROBLEM</a:t>
            </a:r>
            <a:r>
              <a:rPr lang="hr-HR" dirty="0"/>
              <a:t>: no memory, can’t rely on previous samples to model longer effects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03CB977-4DD7-2433-63E3-0D8F9569E9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71935"/>
            <a:ext cx="5181600" cy="345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7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6D797EC-E9C2-0159-2EC3-2AF8AFF2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Long Short-Term Memory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E8747B-72A5-CFB5-4A0F-197A154C5C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Type of reccurrent neural network</a:t>
            </a:r>
          </a:p>
          <a:p>
            <a:r>
              <a:rPr lang="hr-HR" dirty="0"/>
              <a:t>Introduces memory</a:t>
            </a:r>
          </a:p>
          <a:p>
            <a:r>
              <a:rPr lang="hr-HR" dirty="0"/>
              <a:t>For reverb tasks it does better than FCN, capturing a small part of the reverb tail, but fails to emulate the complete effect</a:t>
            </a:r>
          </a:p>
          <a:p>
            <a:r>
              <a:rPr lang="hr-HR" b="1" dirty="0"/>
              <a:t>LIMIATION</a:t>
            </a:r>
            <a:r>
              <a:rPr lang="hr-HR" dirty="0"/>
              <a:t>: Hardly parallelizable, slow training</a:t>
            </a:r>
          </a:p>
        </p:txBody>
      </p:sp>
      <p:pic>
        <p:nvPicPr>
          <p:cNvPr id="1028" name="Picture 4" descr="PyTorch] LSTM Principle and Input and Output Format Record -  Clay-Technology World">
            <a:extLst>
              <a:ext uri="{FF2B5EF4-FFF2-40B4-BE49-F238E27FC236}">
                <a16:creationId xmlns:a16="http://schemas.microsoft.com/office/drawing/2014/main" id="{75AE3522-87E6-54B9-C20F-E48ABA880B0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178" y="2467385"/>
            <a:ext cx="3945644" cy="306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738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73AE-1635-B2CA-6010-4235967C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WaveNet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65DC7-F499-B3DC-CBA1-25DF86FAF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hr-HR" dirty="0"/>
              <a:t>Introduces dilated convolutions</a:t>
            </a:r>
          </a:p>
          <a:p>
            <a:r>
              <a:rPr lang="hr-HR" dirty="0"/>
              <a:t>Has limited receptive window</a:t>
            </a:r>
          </a:p>
          <a:p>
            <a:r>
              <a:rPr lang="hr-HR" dirty="0"/>
              <a:t>Results simmilar to LSTM</a:t>
            </a:r>
          </a:p>
          <a:p>
            <a:r>
              <a:rPr lang="hr-HR" dirty="0"/>
              <a:t>Converges faster than LSTM due to paralelization</a:t>
            </a:r>
          </a:p>
          <a:p>
            <a:r>
              <a:rPr lang="hr-HR" b="1" dirty="0"/>
              <a:t>LIMIATION</a:t>
            </a:r>
            <a:r>
              <a:rPr lang="hr-HR" dirty="0"/>
              <a:t>: Limited receptive field</a:t>
            </a:r>
          </a:p>
          <a:p>
            <a:endParaRPr lang="hr-HR" dirty="0"/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EAA24620-EB1A-19C3-55A4-06DB657232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16094"/>
            <a:ext cx="5181600" cy="2570400"/>
          </a:xfrm>
        </p:spPr>
      </p:pic>
    </p:spTree>
    <p:extLst>
      <p:ext uri="{BB962C8B-B14F-4D97-AF65-F5344CB8AC3E}">
        <p14:creationId xmlns:p14="http://schemas.microsoft.com/office/powerpoint/2010/main" val="3986810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3B7BFD4-6F09-EFA6-31D7-258639E1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Temporal Convolutional Networks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010A936-A7BB-2614-6A0C-476147064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dirty="0"/>
              <a:t>More stable and easier to train than </a:t>
            </a:r>
            <a:r>
              <a:rPr lang="en-US" dirty="0" err="1"/>
              <a:t>WaveNet</a:t>
            </a:r>
            <a:r>
              <a:rPr lang="hr-HR" dirty="0"/>
              <a:t>, also better results</a:t>
            </a:r>
          </a:p>
          <a:p>
            <a:r>
              <a:rPr lang="hr-HR" b="1" dirty="0"/>
              <a:t>LIMIATION</a:t>
            </a:r>
            <a:r>
              <a:rPr lang="hr-HR" dirty="0"/>
              <a:t>: Limited receptive field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C2193E9-9682-92C5-ACC5-714E115999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63462" y="1825625"/>
            <a:ext cx="29990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30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9491-9C03-F7B1-C845-994C668D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Structured State Space Models (Mamba)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D1DE2-013A-C85E-18B5-BB6F3936B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/>
          </a:bodyPr>
          <a:lstStyle/>
          <a:p>
            <a:r>
              <a:rPr lang="hr-HR" dirty="0"/>
              <a:t>Differentiable realization of an infinite impulse response (IIR) system in state space form </a:t>
            </a:r>
          </a:p>
          <a:p>
            <a:r>
              <a:rPr lang="hr-HR" dirty="0"/>
              <a:t>Both </a:t>
            </a:r>
            <a:r>
              <a:rPr lang="hr-HR" b="1" dirty="0"/>
              <a:t>parallelizable</a:t>
            </a:r>
            <a:r>
              <a:rPr lang="hr-HR" dirty="0"/>
              <a:t>, and theoretically </a:t>
            </a:r>
            <a:r>
              <a:rPr lang="hr-HR" b="1" dirty="0"/>
              <a:t>unlimited receptive field.</a:t>
            </a:r>
            <a:endParaRPr lang="hr-HR" dirty="0"/>
          </a:p>
          <a:p>
            <a:r>
              <a:rPr lang="en-US" dirty="0"/>
              <a:t>Mamba is a recent implementation of S</a:t>
            </a:r>
            <a:r>
              <a:rPr lang="hr-HR" dirty="0"/>
              <a:t>S</a:t>
            </a:r>
            <a:r>
              <a:rPr lang="en-US" dirty="0"/>
              <a:t>SMs</a:t>
            </a:r>
            <a:r>
              <a:rPr lang="hr-HR" dirty="0"/>
              <a:t> </a:t>
            </a:r>
            <a:r>
              <a:rPr lang="en-US" dirty="0"/>
              <a:t>designed for efficiency and ease of</a:t>
            </a:r>
            <a:r>
              <a:rPr lang="hr-HR" dirty="0"/>
              <a:t> </a:t>
            </a:r>
            <a:r>
              <a:rPr lang="en-US" dirty="0"/>
              <a:t>integration in audio tasks</a:t>
            </a:r>
            <a:endParaRPr lang="hr-H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4EEB5B-EC54-AE53-EE23-FFF14229C5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31090" y="1825625"/>
            <a:ext cx="28638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B556-6ECA-AC78-1A64-EAD4E675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7D741B-E31A-055A-F4A0-8E4F22F2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Results (MSE Loss)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A2B400C-D485-3F86-4B8B-FE561B8C1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305475"/>
              </p:ext>
            </p:extLst>
          </p:nvPr>
        </p:nvGraphicFramePr>
        <p:xfrm>
          <a:off x="377372" y="1825625"/>
          <a:ext cx="1164045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91">
                  <a:extLst>
                    <a:ext uri="{9D8B030D-6E8A-4147-A177-3AD203B41FA5}">
                      <a16:colId xmlns:a16="http://schemas.microsoft.com/office/drawing/2014/main" val="704776164"/>
                    </a:ext>
                  </a:extLst>
                </a:gridCol>
                <a:gridCol w="2328091">
                  <a:extLst>
                    <a:ext uri="{9D8B030D-6E8A-4147-A177-3AD203B41FA5}">
                      <a16:colId xmlns:a16="http://schemas.microsoft.com/office/drawing/2014/main" val="1070153443"/>
                    </a:ext>
                  </a:extLst>
                </a:gridCol>
                <a:gridCol w="2328091">
                  <a:extLst>
                    <a:ext uri="{9D8B030D-6E8A-4147-A177-3AD203B41FA5}">
                      <a16:colId xmlns:a16="http://schemas.microsoft.com/office/drawing/2014/main" val="780084624"/>
                    </a:ext>
                  </a:extLst>
                </a:gridCol>
                <a:gridCol w="2328091">
                  <a:extLst>
                    <a:ext uri="{9D8B030D-6E8A-4147-A177-3AD203B41FA5}">
                      <a16:colId xmlns:a16="http://schemas.microsoft.com/office/drawing/2014/main" val="617762189"/>
                    </a:ext>
                  </a:extLst>
                </a:gridCol>
                <a:gridCol w="2328091">
                  <a:extLst>
                    <a:ext uri="{9D8B030D-6E8A-4147-A177-3AD203B41FA5}">
                      <a16:colId xmlns:a16="http://schemas.microsoft.com/office/drawing/2014/main" val="78540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Simple Dist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Raging Demon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Plate Reverb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Room Reverb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4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FCN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0.00095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0.3537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0.4633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22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8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WaveNet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0.0010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0.0933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5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TCN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0.00035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0.00093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0.0452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34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dirty="0"/>
                        <a:t>SSSM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0.00037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0.00022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0.0312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903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434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AD92-D993-6B4A-4B76-AB13908B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Gray-box optimizaton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B3243-C9FB-BECA-7AA3-BD7068E66E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We define an </a:t>
            </a:r>
            <a:r>
              <a:rPr lang="hr-HR" b="1" dirty="0"/>
              <a:t>individual</a:t>
            </a:r>
            <a:r>
              <a:rPr lang="hr-HR" dirty="0"/>
              <a:t> as a chain of 5 pedals</a:t>
            </a:r>
          </a:p>
          <a:p>
            <a:r>
              <a:rPr lang="hr-HR" dirty="0"/>
              <a:t>Each pedal has a fixed number of parameters and a dry-wet knob</a:t>
            </a:r>
          </a:p>
          <a:p>
            <a:r>
              <a:rPr lang="hr-HR" dirty="0"/>
              <a:t>We </a:t>
            </a:r>
            <a:r>
              <a:rPr lang="hr-HR" b="1" dirty="0"/>
              <a:t>assume</a:t>
            </a:r>
            <a:r>
              <a:rPr lang="hr-HR" dirty="0"/>
              <a:t> that the effect we are trying to emulate can be expressed as this effect chain with correct parameters</a:t>
            </a:r>
          </a:p>
          <a:p>
            <a:r>
              <a:rPr lang="hr-HR" dirty="0"/>
              <a:t>We now need to learn just the </a:t>
            </a:r>
            <a:r>
              <a:rPr lang="hr-HR" b="1" dirty="0"/>
              <a:t>correct parameters</a:t>
            </a:r>
          </a:p>
        </p:txBody>
      </p:sp>
      <p:pic>
        <p:nvPicPr>
          <p:cNvPr id="10" name="Content Placeholder 4" descr="A diagram of different types of devices&#10;&#10;AI-generated content may be incorrect.">
            <a:extLst>
              <a:ext uri="{FF2B5EF4-FFF2-40B4-BE49-F238E27FC236}">
                <a16:creationId xmlns:a16="http://schemas.microsoft.com/office/drawing/2014/main" id="{08CDBF2B-0C34-E2A6-94EA-7F58D2278E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46814"/>
            <a:ext cx="5181600" cy="3108960"/>
          </a:xfrm>
        </p:spPr>
      </p:pic>
    </p:spTree>
    <p:extLst>
      <p:ext uri="{BB962C8B-B14F-4D97-AF65-F5344CB8AC3E}">
        <p14:creationId xmlns:p14="http://schemas.microsoft.com/office/powerpoint/2010/main" val="2040596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C591-2FA0-90A1-790C-E7831F3F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Genetic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D7638-757B-81B8-96D6-A533098021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r-HR" b="1" dirty="0"/>
              <a:t>Initialize population: </a:t>
            </a:r>
            <a:r>
              <a:rPr lang="hr-HR" dirty="0"/>
              <a:t>400 random individuals</a:t>
            </a:r>
            <a:endParaRPr lang="hr-HR" b="1" dirty="0"/>
          </a:p>
          <a:p>
            <a:r>
              <a:rPr lang="en-US" b="1" dirty="0"/>
              <a:t>Selection</a:t>
            </a:r>
            <a:r>
              <a:rPr lang="en-US" dirty="0"/>
              <a:t>: Favoring individuals with higher fitness</a:t>
            </a:r>
            <a:r>
              <a:rPr lang="hr-HR" dirty="0"/>
              <a:t> (lower MSE)</a:t>
            </a:r>
          </a:p>
          <a:p>
            <a:r>
              <a:rPr lang="en-US" b="1" dirty="0"/>
              <a:t>Crossover</a:t>
            </a:r>
            <a:r>
              <a:rPr lang="en-US" dirty="0"/>
              <a:t>: Each child inherits one effect from either parent at each position in the chain</a:t>
            </a:r>
            <a:endParaRPr lang="hr-HR" dirty="0"/>
          </a:p>
          <a:p>
            <a:r>
              <a:rPr lang="en-US" b="1" dirty="0"/>
              <a:t>Mutation</a:t>
            </a:r>
            <a:r>
              <a:rPr lang="en-US" dirty="0"/>
              <a:t>: Each effect has a chance to mutate. This may modify a parameter slightly or adjust the dry/wet mix</a:t>
            </a:r>
            <a:endParaRPr lang="hr-HR" dirty="0"/>
          </a:p>
        </p:txBody>
      </p:sp>
      <p:pic>
        <p:nvPicPr>
          <p:cNvPr id="5" name="Content Placeholder 4" descr="A diagram of different types of devices&#10;&#10;AI-generated content may be incorrect.">
            <a:extLst>
              <a:ext uri="{FF2B5EF4-FFF2-40B4-BE49-F238E27FC236}">
                <a16:creationId xmlns:a16="http://schemas.microsoft.com/office/drawing/2014/main" id="{FC379222-7486-B450-B760-A5893C9946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46814"/>
            <a:ext cx="5181600" cy="3108960"/>
          </a:xfrm>
        </p:spPr>
      </p:pic>
    </p:spTree>
    <p:extLst>
      <p:ext uri="{BB962C8B-B14F-4D97-AF65-F5344CB8AC3E}">
        <p14:creationId xmlns:p14="http://schemas.microsoft.com/office/powerpoint/2010/main" val="207387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6108-3F69-17B3-0A68-18340787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Gradient-Based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E7251-1CF5-1545-B1D7-448B9D164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48086" cy="4351338"/>
          </a:xfrm>
        </p:spPr>
        <p:txBody>
          <a:bodyPr/>
          <a:lstStyle/>
          <a:p>
            <a:r>
              <a:rPr lang="hr-HR" b="1" dirty="0"/>
              <a:t>DASP</a:t>
            </a:r>
            <a:r>
              <a:rPr lang="hr-HR" dirty="0"/>
              <a:t> python library offers differentiable effect</a:t>
            </a:r>
          </a:p>
          <a:p>
            <a:r>
              <a:rPr lang="hr-HR" dirty="0"/>
              <a:t>This library doesn’t have some effects that were used in individuals for GA</a:t>
            </a:r>
          </a:p>
          <a:p>
            <a:pPr lvl="1"/>
            <a:r>
              <a:rPr lang="hr-HR" dirty="0"/>
              <a:t>Less expressable</a:t>
            </a:r>
          </a:p>
          <a:p>
            <a:r>
              <a:rPr lang="hr-HR" dirty="0"/>
              <a:t>Faster convergence due to more direct optimization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E4E563-ACCB-2F54-EE32-E131E76AC8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25801" y="1825625"/>
            <a:ext cx="4274398" cy="4351338"/>
          </a:xfrm>
          <a:prstGeom prst="rect">
            <a:avLst/>
          </a:prstGeom>
        </p:spPr>
      </p:pic>
      <p:pic>
        <p:nvPicPr>
          <p:cNvPr id="2050" name="Picture 2" descr="What does the Aphex Twin Logo Mean? | Monotype">
            <a:extLst>
              <a:ext uri="{FF2B5EF4-FFF2-40B4-BE49-F238E27FC236}">
                <a16:creationId xmlns:a16="http://schemas.microsoft.com/office/drawing/2014/main" id="{1F617B14-D14B-41B3-4866-397B62808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885083" y="6627812"/>
            <a:ext cx="306917" cy="23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953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E0E2-DD1B-7D4A-76F4-68FB71E6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Results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272A3B3-3E62-29B1-46C5-337A56D84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0930" y="1825625"/>
            <a:ext cx="62901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83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1FAC-63D9-1924-1251-F33A4803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Additional experiments and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57254-157E-63F9-2A3F-2F25F21A6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0900" cy="4351338"/>
          </a:xfrm>
        </p:spPr>
        <p:txBody>
          <a:bodyPr/>
          <a:lstStyle/>
          <a:p>
            <a:r>
              <a:rPr lang="hr-HR" dirty="0"/>
              <a:t>Modeling knobs on the pedal was excluded from this research, knobs are fixed-value</a:t>
            </a:r>
          </a:p>
          <a:p>
            <a:r>
              <a:rPr lang="hr-HR" dirty="0"/>
              <a:t>Modeling LFO-based effects (phaser, flanger) is harder then modeling other effects</a:t>
            </a:r>
          </a:p>
          <a:p>
            <a:r>
              <a:rPr lang="hr-HR" dirty="0"/>
              <a:t>Learning process without guitar recordings also works</a:t>
            </a:r>
          </a:p>
          <a:p>
            <a:r>
              <a:rPr lang="hr-HR" dirty="0"/>
              <a:t>Transformer architecture would work great, but are very computationally expensive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DF044-DA1E-09FB-8938-A19CF0814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367" y="1939814"/>
            <a:ext cx="1181265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39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EF81-CF0D-9ECB-4487-BD6AD2B3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9649B-67C2-336D-4065-F73252029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Black-box methods outperform gray-box methods in emulating guitar effects</a:t>
            </a:r>
          </a:p>
          <a:p>
            <a:r>
              <a:rPr lang="hr-HR" dirty="0"/>
              <a:t>SSSM offer both fast training and unlimited receptive field thus beating other black-box networks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968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F30E-45D4-A2F0-A1E5-F650C765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Thank you for your attention, bye</a:t>
            </a:r>
          </a:p>
        </p:txBody>
      </p:sp>
      <p:pic>
        <p:nvPicPr>
          <p:cNvPr id="1026" name="Picture 2" descr="Thank you for your attention, bye&quot; : r/aphextwin">
            <a:extLst>
              <a:ext uri="{FF2B5EF4-FFF2-40B4-BE49-F238E27FC236}">
                <a16:creationId xmlns:a16="http://schemas.microsoft.com/office/drawing/2014/main" id="{D9624653-49BB-E99E-8490-2BA979E88A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197" y="1825625"/>
            <a:ext cx="431760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463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671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Emulation of Guitar Effects Using Machine Learning </vt:lpstr>
      <vt:lpstr>Introduction to the problem</vt:lpstr>
      <vt:lpstr>What are we trying to learn?</vt:lpstr>
      <vt:lpstr>Digital audio representation</vt:lpstr>
      <vt:lpstr>Lengths of effects</vt:lpstr>
      <vt:lpstr>Dataset</vt:lpstr>
      <vt:lpstr>Approaches</vt:lpstr>
      <vt:lpstr>Fully connected Network</vt:lpstr>
      <vt:lpstr>Long Short-Term Memory</vt:lpstr>
      <vt:lpstr>WaveNet</vt:lpstr>
      <vt:lpstr>Temporal Convolutional Networks</vt:lpstr>
      <vt:lpstr>Structured State Space Models (Mamba)</vt:lpstr>
      <vt:lpstr>Results (MSE Loss)</vt:lpstr>
      <vt:lpstr>Gray-box optimizaton</vt:lpstr>
      <vt:lpstr>Genetic algorithm</vt:lpstr>
      <vt:lpstr>Gradient-Based Optimization</vt:lpstr>
      <vt:lpstr>Results</vt:lpstr>
      <vt:lpstr>Additional experiments and notes</vt:lpstr>
      <vt:lpstr>Conclusion</vt:lpstr>
      <vt:lpstr>Thank you for your attention, bye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Ivanković</dc:creator>
  <cp:lastModifiedBy>Luka Ivanković</cp:lastModifiedBy>
  <cp:revision>15</cp:revision>
  <dcterms:created xsi:type="dcterms:W3CDTF">2025-09-12T12:16:54Z</dcterms:created>
  <dcterms:modified xsi:type="dcterms:W3CDTF">2025-09-17T07:32:41Z</dcterms:modified>
</cp:coreProperties>
</file>